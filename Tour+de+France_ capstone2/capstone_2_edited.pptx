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4E91-40C2-6CF4-4116-5F0184191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5D03F-6942-BD93-FF89-FA5F31709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B3ACE-2CC2-501B-CE02-AF0B693C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3630E-9BA8-58EB-E6B4-B31CD51A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05EE-E570-B172-4914-585362A6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1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C790-A250-DE88-5F24-6B65AB6E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EB8CC-57FF-0BF0-5FD4-6EA276463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A12B5-E029-F857-F793-5A7F91610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86498-E5FE-6113-9DAA-337DF44A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15035-B992-9AB1-5B65-7E4749A7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628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E18C-51A9-024B-B00D-BC11F986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5A3B8-48AA-E945-8E14-311AE2EB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4E140-F32A-7DE9-763A-CAABFD0E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60B2-93B8-86C0-EC8E-5631CA90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63090-1925-C0BE-A271-C8BDFD2D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4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9F69-53F1-141E-9762-A7209E0C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F9761-2556-6840-9304-6F9BDAE29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774E9-12DD-5CD7-17C4-2C45170D5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12D38-648F-A9ED-0A38-3E2069245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7AB2C-4D61-453A-BEAB-901B3661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550A9-E7EB-E852-9A36-6003F75E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2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02C4-5203-3702-9161-1AB6C7E7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EE8E7-B160-8BFF-866F-9CDDB9AFD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2F19-A8CE-5080-D276-D37BF018A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C0EF2-7031-B6E2-97C1-F2782841A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D520E-9ACB-C16C-BD33-E9A942721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180B9-8CF7-6868-E674-1EE08B96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97F1E-BCA6-EF49-9344-3D3E1BC9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7170E-F0C5-C038-AAC3-C6E0ACF9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49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F62F-B222-F7BD-E95F-CBA36537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0241F-7D58-D754-DC88-D9B69839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60F47-E697-3ADE-2E7E-DA10D97A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FC0E5-1B54-147D-ACF5-0CD86BC3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19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20DB7-A25C-4D77-3B8F-5BA415D2D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45A17-73E1-8639-0DE7-FEA32559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B63BC-42EE-EA1A-B5CC-10F265EC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28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733-5E51-13C9-B116-C3550A477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53D6E-2FE4-21ED-DDF9-304BCD401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E5566-C121-61D8-018C-8FE950160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30D15-3AA9-8522-026B-7F2281C7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AF929-B572-FEE7-E034-073DF61B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0AD07-FA85-2CA3-1C8E-305D443A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87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2FB8-CD18-E4D8-512D-9F0C1E37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32EED-03C7-6A11-423A-823FD80B53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6B1D7-5816-8504-3A8F-BB2CD5C6C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A9B23-6F5D-8920-88E3-2877D6281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F1D4-E6A6-DBB4-8D69-6135B588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345C5-F251-7613-3004-CAAE5523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934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8E56-6463-AF06-EBC4-EC4248C0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F789C-80D3-3979-08FD-34B07FC63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2ACFB-3496-5212-22E9-DE564321E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75E27-8922-F473-AD9A-5879D3D7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D323-320F-59CE-01C2-D8D58FB4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37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B6170-B840-70F5-B4E2-F1DA3B6AC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154EB-816E-B643-3E79-29394532C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C3F4-572B-353A-8B70-6DA682F0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583DA-EB84-E428-2210-71AD80AB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81C8C-6B34-D4D7-BA83-BD2FFFD6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C323E-4835-D743-43D2-CACA5CDB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F4284-E966-F4A7-0AA5-594B2AD9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5D227-EF01-9BF0-C325-5F5CFE8C5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0D199-F8AA-48E5-BFC4-ED18A14AF0D3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72531-54DC-32D0-888F-57B8F459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0F807-5D9A-E636-90C7-A8250AD0C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97EAA-5A6E-42A3-8648-F1A2BED89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E9683-8F55-97D0-E3EE-797255BEF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1097280"/>
            <a:ext cx="6675120" cy="2651760"/>
          </a:xfrm>
        </p:spPr>
        <p:txBody>
          <a:bodyPr wrap="square" lIns="0" rIns="0" anchor="b">
            <a:normAutofit fontScale="90000"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Peloton Insights — Tour de France Historical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BC73C-3637-971E-DAFA-38D396E53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4023360"/>
            <a:ext cx="6675120" cy="1737360"/>
          </a:xfrm>
        </p:spPr>
        <p:txBody>
          <a:bodyPr wrap="square" lIns="0" anchor="t"/>
          <a:lstStyle/>
          <a:p>
            <a:pPr algn="l">
              <a:spcAft>
                <a:spcPts val="800"/>
              </a:spcAft>
            </a:pPr>
            <a:r>
              <a:rPr sz="2000" b="0" i="0" dirty="0">
                <a:solidFill>
                  <a:srgbClr val="CADCFC"/>
                </a:solidFill>
                <a:latin typeface="Calibri"/>
              </a:rPr>
              <a:t>Performance trends, country dominance and race evolution, 1903–2022</a:t>
            </a:r>
            <a:endParaRPr lang="en-IN" dirty="0"/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CADCFC"/>
                </a:solidFill>
                <a:latin typeface="Calibri"/>
              </a:rPr>
              <a:t>SQL analysis and Power BI dashboard</a:t>
            </a:r>
          </a:p>
          <a:p>
            <a:pPr algn="l">
              <a:spcAft>
                <a:spcPts val="800"/>
              </a:spcAft>
            </a:pPr>
            <a:r>
              <a:rPr sz="1800" b="1" i="0" dirty="0">
                <a:solidFill>
                  <a:srgbClr val="FFD100"/>
                </a:solidFill>
                <a:latin typeface="Calibri"/>
              </a:rPr>
              <a:t>Made by: Archi Katiyar</a:t>
            </a:r>
          </a:p>
        </p:txBody>
      </p:sp>
      <p:cxnSp>
        <p:nvCxnSpPr>
          <p:cNvPr id="4" name="Wheel spoke"/>
          <p:cNvCxnSpPr/>
          <p:nvPr/>
        </p:nvCxnSpPr>
        <p:spPr>
          <a:xfrm>
            <a:off x="9692640" y="3429000"/>
            <a:ext cx="1737360" cy="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Wheel spoke"/>
          <p:cNvCxnSpPr/>
          <p:nvPr/>
        </p:nvCxnSpPr>
        <p:spPr>
          <a:xfrm>
            <a:off x="9692640" y="3429000"/>
            <a:ext cx="1504597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Wheel spoke"/>
          <p:cNvCxnSpPr/>
          <p:nvPr/>
        </p:nvCxnSpPr>
        <p:spPr>
          <a:xfrm>
            <a:off x="9692640" y="3429000"/>
            <a:ext cx="868680" cy="1504597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Wheel spoke"/>
          <p:cNvCxnSpPr/>
          <p:nvPr/>
        </p:nvCxnSpPr>
        <p:spPr>
          <a:xfrm>
            <a:off x="9692640" y="3429000"/>
            <a:ext cx="0" cy="173736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Wheel spoke"/>
          <p:cNvCxnSpPr/>
          <p:nvPr/>
        </p:nvCxnSpPr>
        <p:spPr>
          <a:xfrm flipH="1">
            <a:off x="8823960" y="3429000"/>
            <a:ext cx="868680" cy="1504597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Wheel spoke"/>
          <p:cNvCxnSpPr/>
          <p:nvPr/>
        </p:nvCxnSpPr>
        <p:spPr>
          <a:xfrm flipH="1">
            <a:off x="8188042" y="3429000"/>
            <a:ext cx="1504598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Wheel spoke"/>
          <p:cNvCxnSpPr/>
          <p:nvPr/>
        </p:nvCxnSpPr>
        <p:spPr>
          <a:xfrm flipH="1">
            <a:off x="7955279" y="3429000"/>
            <a:ext cx="1737361" cy="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Wheel spoke"/>
          <p:cNvCxnSpPr/>
          <p:nvPr/>
        </p:nvCxnSpPr>
        <p:spPr>
          <a:xfrm flipH="1" flipV="1">
            <a:off x="8188042" y="2560320"/>
            <a:ext cx="1504598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Wheel spoke"/>
          <p:cNvCxnSpPr/>
          <p:nvPr/>
        </p:nvCxnSpPr>
        <p:spPr>
          <a:xfrm flipH="1" flipV="1">
            <a:off x="8823959" y="1924402"/>
            <a:ext cx="868681" cy="1504598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Wheel spoke"/>
          <p:cNvCxnSpPr/>
          <p:nvPr/>
        </p:nvCxnSpPr>
        <p:spPr>
          <a:xfrm flipV="1">
            <a:off x="9692640" y="1691640"/>
            <a:ext cx="0" cy="173736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Wheel spoke"/>
          <p:cNvCxnSpPr/>
          <p:nvPr/>
        </p:nvCxnSpPr>
        <p:spPr>
          <a:xfrm flipV="1">
            <a:off x="9692640" y="1924402"/>
            <a:ext cx="868680" cy="1504598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Wheel spoke"/>
          <p:cNvCxnSpPr/>
          <p:nvPr/>
        </p:nvCxnSpPr>
        <p:spPr>
          <a:xfrm flipV="1">
            <a:off x="9692640" y="2560319"/>
            <a:ext cx="1504597" cy="868681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Wheel rim"/>
          <p:cNvSpPr/>
          <p:nvPr/>
        </p:nvSpPr>
        <p:spPr>
          <a:xfrm>
            <a:off x="7955279" y="1691640"/>
            <a:ext cx="3474720" cy="3474720"/>
          </a:xfrm>
          <a:prstGeom prst="ellipse">
            <a:avLst/>
          </a:prstGeom>
          <a:noFill/>
          <a:ln w="101600">
            <a:solidFill>
              <a:srgbClr val="FF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heel inner"/>
          <p:cNvSpPr/>
          <p:nvPr/>
        </p:nvSpPr>
        <p:spPr>
          <a:xfrm>
            <a:off x="8789212" y="2525572"/>
            <a:ext cx="1806854" cy="1806854"/>
          </a:xfrm>
          <a:prstGeom prst="ellipse">
            <a:avLst/>
          </a:prstGeom>
          <a:solidFill>
            <a:srgbClr val="0B1F3A"/>
          </a:solidFill>
          <a:ln w="3810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Wheel hub"/>
          <p:cNvSpPr/>
          <p:nvPr/>
        </p:nvSpPr>
        <p:spPr>
          <a:xfrm>
            <a:off x="9449409" y="3185769"/>
            <a:ext cx="486460" cy="48646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8023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38E0-95EC-7ECB-18DB-64814652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Overview: 109 editions averaging ~20 stages</a:t>
            </a:r>
            <a:endParaRPr lang="en-IN"/>
          </a:p>
        </p:txBody>
      </p:sp>
      <p:pic>
        <p:nvPicPr>
          <p:cNvPr id="5" name="Content Placeholder 4" descr="SQL query: editions, average stages and distance">
            <a:extLst>
              <a:ext uri="{FF2B5EF4-FFF2-40B4-BE49-F238E27FC236}">
                <a16:creationId xmlns:a16="http://schemas.microsoft.com/office/drawing/2014/main" id="{A6AA76CB-EDE6-6430-5AA5-EB4BBCEEE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28" y="1508760"/>
            <a:ext cx="7498572" cy="1554972"/>
          </a:xfrm>
          <a:prstGeom prst="rect">
            <a:avLst/>
          </a:prstGeom>
        </p:spPr>
      </p:pic>
      <p:pic>
        <p:nvPicPr>
          <p:cNvPr id="7" name="Picture 6" descr="SQL query: editions, average stages and distance">
            <a:extLst>
              <a:ext uri="{FF2B5EF4-FFF2-40B4-BE49-F238E27FC236}">
                <a16:creationId xmlns:a16="http://schemas.microsoft.com/office/drawing/2014/main" id="{0B5CEC31-D534-7D3E-29F8-37053176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2" r="235"/>
          <a:stretch>
            <a:fillRect/>
          </a:stretch>
        </p:blipFill>
        <p:spPr>
          <a:xfrm>
            <a:off x="2320413" y="3977149"/>
            <a:ext cx="3913238" cy="1061884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9" name="Insights panel"/>
          <p:cNvSpPr/>
          <p:nvPr/>
        </p:nvSpPr>
        <p:spPr>
          <a:xfrm>
            <a:off x="8001000" y="584428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header"/>
          <p:cNvSpPr txBox="1"/>
          <p:nvPr/>
        </p:nvSpPr>
        <p:spPr>
          <a:xfrm>
            <a:off x="8549640" y="150876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2" name="Insights text"/>
          <p:cNvSpPr txBox="1"/>
          <p:nvPr/>
        </p:nvSpPr>
        <p:spPr>
          <a:xfrm>
            <a:off x="8229600" y="1975104"/>
            <a:ext cx="3319272" cy="269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b="1" i="0" dirty="0">
                <a:solidFill>
                  <a:srgbClr val="1F2937"/>
                </a:solidFill>
                <a:latin typeface="Calibri"/>
              </a:rPr>
              <a:t>109 editions </a:t>
            </a:r>
            <a:r>
              <a:rPr b="0" i="0" dirty="0">
                <a:solidFill>
                  <a:srgbClr val="1F2937"/>
                </a:solidFill>
                <a:latin typeface="Calibri"/>
              </a:rPr>
              <a:t>between 1903 and 2022, averaging 20.08 stages each.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b="1" i="0" dirty="0">
                <a:solidFill>
                  <a:srgbClr val="1F2937"/>
                </a:solidFill>
                <a:latin typeface="Calibri"/>
              </a:rPr>
              <a:t>Distance looks truncated: </a:t>
            </a:r>
            <a:r>
              <a:rPr b="0" i="0" dirty="0" err="1">
                <a:solidFill>
                  <a:srgbClr val="1F2937"/>
                </a:solidFill>
                <a:latin typeface="Calibri"/>
              </a:rPr>
              <a:t>avg_distance</a:t>
            </a:r>
            <a:r>
              <a:rPr b="0" i="0" dirty="0">
                <a:solidFill>
                  <a:srgbClr val="1F2937"/>
                </a:solidFill>
                <a:latin typeface="Calibri"/>
              </a:rPr>
              <a:t> shows 3.7, but Power BI’s 456K km total ÷ 109 editions is about 4,180 km.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b="1" i="0" dirty="0">
                <a:solidFill>
                  <a:srgbClr val="1F2937"/>
                </a:solidFill>
                <a:latin typeface="Calibri"/>
              </a:rPr>
              <a:t>Fix: </a:t>
            </a:r>
            <a:r>
              <a:rPr b="0" i="0" dirty="0">
                <a:solidFill>
                  <a:srgbClr val="1F2937"/>
                </a:solidFill>
                <a:latin typeface="Calibri"/>
              </a:rPr>
              <a:t>convert Distance to a clean number before averaging.</a:t>
            </a:r>
          </a:p>
        </p:txBody>
      </p:sp>
    </p:spTree>
    <p:extLst>
      <p:ext uri="{BB962C8B-B14F-4D97-AF65-F5344CB8AC3E}">
        <p14:creationId xmlns:p14="http://schemas.microsoft.com/office/powerpoint/2010/main" val="17437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Field size peaked in 1986; finishers peaked in 2016</a:t>
            </a:r>
          </a:p>
        </p:txBody>
      </p:sp>
      <p:pic>
        <p:nvPicPr>
          <p:cNvPr id="5" name="Content Placeholder 4" descr="SQL query: editions with most entrants and most finishers">
            <a:extLst>
              <a:ext uri="{FF2B5EF4-FFF2-40B4-BE49-F238E27FC236}">
                <a16:creationId xmlns:a16="http://schemas.microsoft.com/office/drawing/2014/main" id="{FA6465BA-EAE4-B04B-FE69-62811B971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325880"/>
            <a:ext cx="7315200" cy="2444652"/>
          </a:xfrm>
          <a:prstGeom prst="rect">
            <a:avLst/>
          </a:prstGeom>
        </p:spPr>
      </p:pic>
      <p:pic>
        <p:nvPicPr>
          <p:cNvPr id="7" name="Picture 6" descr="SQL query: editions with most entrants and most finishers">
            <a:extLst>
              <a:ext uri="{FF2B5EF4-FFF2-40B4-BE49-F238E27FC236}">
                <a16:creationId xmlns:a16="http://schemas.microsoft.com/office/drawing/2014/main" id="{E604F2D9-C6F7-AB47-9CE9-FD0287DCA7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98" b="-1"/>
          <a:stretch>
            <a:fillRect/>
          </a:stretch>
        </p:blipFill>
        <p:spPr>
          <a:xfrm>
            <a:off x="1563330" y="4424516"/>
            <a:ext cx="3500284" cy="1107603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0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3" name="Insights text"/>
          <p:cNvSpPr txBox="1"/>
          <p:nvPr/>
        </p:nvSpPr>
        <p:spPr>
          <a:xfrm>
            <a:off x="8229600" y="2057400"/>
            <a:ext cx="3319272" cy="242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1986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had the largest field: 210 starters and 132 finishers.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2016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had the most finishers: 174 of 198 starters.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Check the output: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2016 row reads 174 starters / 198 finishers because the UNION ALL swaps column order. Select columns in the same order in both parts.</a:t>
            </a:r>
          </a:p>
        </p:txBody>
      </p:sp>
    </p:spTree>
    <p:extLst>
      <p:ext uri="{BB962C8B-B14F-4D97-AF65-F5344CB8AC3E}">
        <p14:creationId xmlns:p14="http://schemas.microsoft.com/office/powerpoint/2010/main" val="204976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France leads with 36 wins; four nations hold 75%</a:t>
            </a:r>
          </a:p>
        </p:txBody>
      </p:sp>
      <p:pic>
        <p:nvPicPr>
          <p:cNvPr id="5" name="Content Placeholder 4" descr="SQL query: wins and win rate by winner country">
            <a:extLst>
              <a:ext uri="{FF2B5EF4-FFF2-40B4-BE49-F238E27FC236}">
                <a16:creationId xmlns:a16="http://schemas.microsoft.com/office/drawing/2014/main" id="{D563D9FD-EB02-18D6-CCF7-942D01BA2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315" y="1325880"/>
            <a:ext cx="7251528" cy="1903249"/>
          </a:xfrm>
          <a:prstGeom prst="rect">
            <a:avLst/>
          </a:prstGeom>
        </p:spPr>
      </p:pic>
      <p:pic>
        <p:nvPicPr>
          <p:cNvPr id="7" name="Picture 6" descr="SQL query: wins and win rate by winner country">
            <a:extLst>
              <a:ext uri="{FF2B5EF4-FFF2-40B4-BE49-F238E27FC236}">
                <a16:creationId xmlns:a16="http://schemas.microsoft.com/office/drawing/2014/main" id="{D04697D8-0F43-FA7D-C2AF-2CA8F62CB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648" y="2999545"/>
            <a:ext cx="2733368" cy="3446975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0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3" name="Insights text"/>
          <p:cNvSpPr txBox="1"/>
          <p:nvPr/>
        </p:nvSpPr>
        <p:spPr>
          <a:xfrm>
            <a:off x="8229600" y="2057400"/>
            <a:ext cx="3319272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France: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36 wins, 35.3% of all 102 recorded wins.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Belgium 18, Spain 12, Italy 10: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top four countries hold about 75% of wins.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15 countries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have won at least once; Slovenia, Colombia and Australia are recent additions.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Note: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win rate here is a country’s share of all recorded wins.</a:t>
            </a:r>
          </a:p>
        </p:txBody>
      </p:sp>
    </p:spTree>
    <p:extLst>
      <p:ext uri="{BB962C8B-B14F-4D97-AF65-F5344CB8AC3E}">
        <p14:creationId xmlns:p14="http://schemas.microsoft.com/office/powerpoint/2010/main" val="51199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Winner speed rose ~60% from the 1920s to the 2020s</a:t>
            </a:r>
          </a:p>
        </p:txBody>
      </p:sp>
      <p:pic>
        <p:nvPicPr>
          <p:cNvPr id="5" name="Content Placeholder 4" descr="SQL query: average winner speed by decade">
            <a:extLst>
              <a:ext uri="{FF2B5EF4-FFF2-40B4-BE49-F238E27FC236}">
                <a16:creationId xmlns:a16="http://schemas.microsoft.com/office/drawing/2014/main" id="{44E4C134-1710-9E4C-1F21-B3C58B122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325880"/>
            <a:ext cx="4693246" cy="2738747"/>
          </a:xfrm>
          <a:prstGeom prst="rect">
            <a:avLst/>
          </a:prstGeom>
        </p:spPr>
      </p:pic>
      <p:pic>
        <p:nvPicPr>
          <p:cNvPr id="7" name="Picture 6" descr="SQL query: average winner speed by decade">
            <a:extLst>
              <a:ext uri="{FF2B5EF4-FFF2-40B4-BE49-F238E27FC236}">
                <a16:creationId xmlns:a16="http://schemas.microsoft.com/office/drawing/2014/main" id="{141BAB0B-588B-C431-9EF9-1704031A6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64" y="4064627"/>
            <a:ext cx="4331756" cy="1850339"/>
          </a:xfrm>
          <a:prstGeom prst="rect">
            <a:avLst/>
          </a:prstGeom>
        </p:spPr>
      </p:pic>
      <p:pic>
        <p:nvPicPr>
          <p:cNvPr id="9" name="Picture 8" descr="SQL query: average winner speed by decade">
            <a:extLst>
              <a:ext uri="{FF2B5EF4-FFF2-40B4-BE49-F238E27FC236}">
                <a16:creationId xmlns:a16="http://schemas.microsoft.com/office/drawing/2014/main" id="{64CDA6A0-5830-629F-7BC7-A32408A6B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070" y="2202426"/>
            <a:ext cx="1771330" cy="285792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2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5" name="Insights text"/>
          <p:cNvSpPr txBox="1"/>
          <p:nvPr/>
        </p:nvSpPr>
        <p:spPr>
          <a:xfrm>
            <a:off x="8229600" y="2057400"/>
            <a:ext cx="3319272" cy="2277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+61%: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25.4 km/h in the 1920s to 40.97 km/h in the 2020s.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Biggest jump: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+4.9 km/h from the 1920s to the 1930s.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Plateau: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about 40 km/h in both the 2000s and 2010s.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Caution: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2020s covers only 2020–2022.</a:t>
            </a:r>
            <a:endParaRPr sz="1400" b="0" i="0" dirty="0">
              <a:solidFill>
                <a:srgbClr val="1F293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342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Early editions ran few, very long stages</a:t>
            </a:r>
          </a:p>
        </p:txBody>
      </p:sp>
      <p:pic>
        <p:nvPicPr>
          <p:cNvPr id="5" name="Content Placeholder 4" descr="SQL query: stage structure ratio">
            <a:extLst>
              <a:ext uri="{FF2B5EF4-FFF2-40B4-BE49-F238E27FC236}">
                <a16:creationId xmlns:a16="http://schemas.microsoft.com/office/drawing/2014/main" id="{870B7A0F-D2DF-50FA-D38A-5B4BCCBD4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96" y="1682496"/>
            <a:ext cx="5865580" cy="1094183"/>
          </a:xfrm>
          <a:prstGeom prst="rect">
            <a:avLst/>
          </a:prstGeom>
        </p:spPr>
      </p:pic>
      <p:pic>
        <p:nvPicPr>
          <p:cNvPr id="7" name="Picture 6" descr="SQL query: stage structure ratio">
            <a:extLst>
              <a:ext uri="{FF2B5EF4-FFF2-40B4-BE49-F238E27FC236}">
                <a16:creationId xmlns:a16="http://schemas.microsoft.com/office/drawing/2014/main" id="{A1F4CD5A-4A85-5662-DFE2-CEAF78B6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95" y="1071717"/>
            <a:ext cx="1866433" cy="2550142"/>
          </a:xfrm>
          <a:prstGeom prst="rect">
            <a:avLst/>
          </a:prstGeom>
        </p:spPr>
      </p:pic>
      <p:pic>
        <p:nvPicPr>
          <p:cNvPr id="9" name="Picture 8" descr="SQL query: stage structure ratio">
            <a:extLst>
              <a:ext uri="{FF2B5EF4-FFF2-40B4-BE49-F238E27FC236}">
                <a16:creationId xmlns:a16="http://schemas.microsoft.com/office/drawing/2014/main" id="{82BEBF97-2BA8-A2B5-03B5-BB9A733CD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695" y="3621858"/>
            <a:ext cx="1866433" cy="2824662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2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5" name="Insights text"/>
          <p:cNvSpPr txBox="1"/>
          <p:nvPr/>
        </p:nvSpPr>
        <p:spPr>
          <a:xfrm>
            <a:off x="8229600" y="2057400"/>
            <a:ext cx="3319272" cy="266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Early format: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1903 had 6 stages of 268–471 km; 1906 had a 480 km stage.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Query returns stage rows: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ratio is stage number ÷ distance, so it rises within each edition instead of describing it.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Better measure: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total stages ÷ total distance per edition to rank the densest formats.</a:t>
            </a:r>
          </a:p>
        </p:txBody>
      </p:sp>
    </p:spTree>
    <p:extLst>
      <p:ext uri="{BB962C8B-B14F-4D97-AF65-F5344CB8AC3E}">
        <p14:creationId xmlns:p14="http://schemas.microsoft.com/office/powerpoint/2010/main" val="409813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Finish rates are highest in the modern era</a:t>
            </a:r>
          </a:p>
        </p:txBody>
      </p:sp>
      <p:pic>
        <p:nvPicPr>
          <p:cNvPr id="5" name="Content Placeholder 4" descr="SQL query: finishers to entrants ratio by year">
            <a:extLst>
              <a:ext uri="{FF2B5EF4-FFF2-40B4-BE49-F238E27FC236}">
                <a16:creationId xmlns:a16="http://schemas.microsoft.com/office/drawing/2014/main" id="{2CC25353-2B32-A511-E82A-5B8887806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15" y="1389888"/>
            <a:ext cx="7663065" cy="1107506"/>
          </a:xfrm>
          <a:prstGeom prst="rect">
            <a:avLst/>
          </a:prstGeom>
        </p:spPr>
      </p:pic>
      <p:pic>
        <p:nvPicPr>
          <p:cNvPr id="7" name="Picture 6" descr="SQL query: finishers to entrants ratio by year">
            <a:extLst>
              <a:ext uri="{FF2B5EF4-FFF2-40B4-BE49-F238E27FC236}">
                <a16:creationId xmlns:a16="http://schemas.microsoft.com/office/drawing/2014/main" id="{0E534A7F-5B37-3A59-F4DF-9AADF37B1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694" y="2744282"/>
            <a:ext cx="2866480" cy="3715512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0" name="Insights panel"/>
          <p:cNvSpPr/>
          <p:nvPr/>
        </p:nvSpPr>
        <p:spPr>
          <a:xfrm>
            <a:off x="8193417" y="1134348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3" name="Insights text"/>
          <p:cNvSpPr txBox="1"/>
          <p:nvPr/>
        </p:nvSpPr>
        <p:spPr>
          <a:xfrm>
            <a:off x="8339328" y="2092132"/>
            <a:ext cx="3319272" cy="1928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Best years: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2019 (88.1%), 2016 (87.9%), 2010 (86.3%), 2009 (86.1%).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Modern pattern: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all 23 editions shown are from 1974 onward; 17 are from 2002 or later.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Worst years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(Power BI table): 1919 at 14%, then 1904 and 1906 at 17%.</a:t>
            </a:r>
          </a:p>
        </p:txBody>
      </p:sp>
    </p:spTree>
    <p:extLst>
      <p:ext uri="{BB962C8B-B14F-4D97-AF65-F5344CB8AC3E}">
        <p14:creationId xmlns:p14="http://schemas.microsoft.com/office/powerpoint/2010/main" val="190973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Fastest winning time: 2022 at 79.5 hours</a:t>
            </a:r>
          </a:p>
        </p:txBody>
      </p:sp>
      <p:pic>
        <p:nvPicPr>
          <p:cNvPr id="5" name="Content Placeholder 4" descr="SQL query: winner time in hours by year">
            <a:extLst>
              <a:ext uri="{FF2B5EF4-FFF2-40B4-BE49-F238E27FC236}">
                <a16:creationId xmlns:a16="http://schemas.microsoft.com/office/drawing/2014/main" id="{377FBE34-89CC-F6DD-C549-4306862EC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325880"/>
            <a:ext cx="7315200" cy="2892159"/>
          </a:xfrm>
          <a:prstGeom prst="rect">
            <a:avLst/>
          </a:prstGeom>
        </p:spPr>
      </p:pic>
      <p:pic>
        <p:nvPicPr>
          <p:cNvPr id="7" name="Picture 6" descr="SQL query: winner time in hours by year">
            <a:extLst>
              <a:ext uri="{FF2B5EF4-FFF2-40B4-BE49-F238E27FC236}">
                <a16:creationId xmlns:a16="http://schemas.microsoft.com/office/drawing/2014/main" id="{4D991B8D-D815-88F8-499D-430949402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026" y="4202875"/>
            <a:ext cx="1954161" cy="2399093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0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3" name="Insights text"/>
          <p:cNvSpPr txBox="1"/>
          <p:nvPr/>
        </p:nvSpPr>
        <p:spPr>
          <a:xfrm>
            <a:off x="8229600" y="2057400"/>
            <a:ext cx="3319272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2022 is the fastest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edition at 79.5 hours, ahead of 2021 (82.9 h) and 2019 (82.95 h).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Recent dominance: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13 of the 15 fastest editions listed are from 2008 onward.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9.5 hours faster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than 2016 (89.1 h), the last row in this view.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Slowest editions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sit at the end of the sorted result, not shown here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547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Winning times fell from ~110 h to ~80 h</a:t>
            </a:r>
          </a:p>
        </p:txBody>
      </p:sp>
      <p:pic>
        <p:nvPicPr>
          <p:cNvPr id="5" name="Content Placeholder 4" descr="SQL query: average winner time by country and decade">
            <a:extLst>
              <a:ext uri="{FF2B5EF4-FFF2-40B4-BE49-F238E27FC236}">
                <a16:creationId xmlns:a16="http://schemas.microsoft.com/office/drawing/2014/main" id="{B143A350-630D-BD47-7194-4E994AB66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380" y="1389888"/>
            <a:ext cx="7938515" cy="2837135"/>
          </a:xfrm>
          <a:prstGeom prst="rect">
            <a:avLst/>
          </a:prstGeom>
        </p:spPr>
      </p:pic>
      <p:pic>
        <p:nvPicPr>
          <p:cNvPr id="7" name="Picture 6" descr="SQL query: average winner time by country and decade">
            <a:extLst>
              <a:ext uri="{FF2B5EF4-FFF2-40B4-BE49-F238E27FC236}">
                <a16:creationId xmlns:a16="http://schemas.microsoft.com/office/drawing/2014/main" id="{B90DD38F-B337-5455-6361-5CFA10D53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7"/>
          <a:stretch>
            <a:fillRect/>
          </a:stretch>
        </p:blipFill>
        <p:spPr>
          <a:xfrm>
            <a:off x="643128" y="4253019"/>
            <a:ext cx="4169614" cy="1530943"/>
          </a:xfrm>
          <a:prstGeom prst="rect">
            <a:avLst/>
          </a:prstGeom>
        </p:spPr>
      </p:pic>
      <p:pic>
        <p:nvPicPr>
          <p:cNvPr id="9" name="Picture 8" descr="SQL query: average winner time by country and decade">
            <a:extLst>
              <a:ext uri="{FF2B5EF4-FFF2-40B4-BE49-F238E27FC236}">
                <a16:creationId xmlns:a16="http://schemas.microsoft.com/office/drawing/2014/main" id="{B0864F99-7885-CA26-E90C-6BEE901AF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667" y="1820995"/>
            <a:ext cx="2040268" cy="2683028"/>
          </a:xfrm>
          <a:prstGeom prst="rect">
            <a:avLst/>
          </a:prstGeom>
        </p:spPr>
      </p:pic>
      <p:pic>
        <p:nvPicPr>
          <p:cNvPr id="11" name="Picture 10" descr="SQL query: average winner time by country and decade">
            <a:extLst>
              <a:ext uri="{FF2B5EF4-FFF2-40B4-BE49-F238E27FC236}">
                <a16:creationId xmlns:a16="http://schemas.microsoft.com/office/drawing/2014/main" id="{D5413C78-71F1-8235-05FB-1DDCC4A2E4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83" b="34124"/>
          <a:stretch>
            <a:fillRect/>
          </a:stretch>
        </p:blipFill>
        <p:spPr>
          <a:xfrm>
            <a:off x="5831483" y="4504022"/>
            <a:ext cx="1895197" cy="2036256"/>
          </a:xfrm>
          <a:prstGeom prst="rect">
            <a:avLst/>
          </a:prstGeom>
        </p:spPr>
      </p:pic>
      <p:sp>
        <p:nvSpPr>
          <p:cNvPr id="12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4" name="Insights panel"/>
          <p:cNvSpPr/>
          <p:nvPr/>
        </p:nvSpPr>
        <p:spPr>
          <a:xfrm>
            <a:off x="8608150" y="1506694"/>
            <a:ext cx="3437527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nsights marker"/>
          <p:cNvSpPr/>
          <p:nvPr/>
        </p:nvSpPr>
        <p:spPr>
          <a:xfrm>
            <a:off x="8804249" y="2055212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nsights header"/>
          <p:cNvSpPr txBox="1"/>
          <p:nvPr/>
        </p:nvSpPr>
        <p:spPr>
          <a:xfrm>
            <a:off x="9164700" y="2026440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7" name="Insights text"/>
          <p:cNvSpPr txBox="1"/>
          <p:nvPr/>
        </p:nvSpPr>
        <p:spPr>
          <a:xfrm>
            <a:off x="8608150" y="2741923"/>
            <a:ext cx="3319272" cy="252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1970s–80s: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Belgium 111 h, France 110 h, Netherlands 109 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2010s–20s: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Denmark 79 h, Colombia 82 h, Slovenia 84.5 h, Australia 86 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About 29% faster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from Belgium in the 1970s to Denmark in the 2020s.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Data gaps: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NULL times for Luxembourg (1900s) and France (1910s).</a:t>
            </a:r>
          </a:p>
        </p:txBody>
      </p:sp>
    </p:spTree>
    <p:extLst>
      <p:ext uri="{BB962C8B-B14F-4D97-AF65-F5344CB8AC3E}">
        <p14:creationId xmlns:p14="http://schemas.microsoft.com/office/powerpoint/2010/main" val="411853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France and Belgium dominate decade by decade</a:t>
            </a:r>
          </a:p>
        </p:txBody>
      </p:sp>
      <p:pic>
        <p:nvPicPr>
          <p:cNvPr id="5" name="Content Placeholder 4" descr="SQL query: top countries by wins per decade">
            <a:extLst>
              <a:ext uri="{FF2B5EF4-FFF2-40B4-BE49-F238E27FC236}">
                <a16:creationId xmlns:a16="http://schemas.microsoft.com/office/drawing/2014/main" id="{8ECC790A-9175-85E2-ADE5-064509D3E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044" y="1325880"/>
            <a:ext cx="5356301" cy="2837302"/>
          </a:xfrm>
          <a:prstGeom prst="rect">
            <a:avLst/>
          </a:prstGeom>
        </p:spPr>
      </p:pic>
      <p:pic>
        <p:nvPicPr>
          <p:cNvPr id="9" name="Picture 8" descr="SQL query: top countries by wins per decade">
            <a:extLst>
              <a:ext uri="{FF2B5EF4-FFF2-40B4-BE49-F238E27FC236}">
                <a16:creationId xmlns:a16="http://schemas.microsoft.com/office/drawing/2014/main" id="{BB45BDE3-9EBD-4C4D-851C-E233E48D2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63182"/>
            <a:ext cx="3874537" cy="1949329"/>
          </a:xfrm>
          <a:prstGeom prst="rect">
            <a:avLst/>
          </a:prstGeom>
        </p:spPr>
      </p:pic>
      <p:pic>
        <p:nvPicPr>
          <p:cNvPr id="11" name="Picture 10" descr="SQL query: top countries by wins per decade">
            <a:extLst>
              <a:ext uri="{FF2B5EF4-FFF2-40B4-BE49-F238E27FC236}">
                <a16:creationId xmlns:a16="http://schemas.microsoft.com/office/drawing/2014/main" id="{877742D9-5CF4-0BBE-F007-974A23AD6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934" y="1906271"/>
            <a:ext cx="2053466" cy="4206240"/>
          </a:xfrm>
          <a:prstGeom prst="rect">
            <a:avLst/>
          </a:prstGeom>
        </p:spPr>
      </p:pic>
      <p:sp>
        <p:nvSpPr>
          <p:cNvPr id="12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4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7" name="Insights text"/>
          <p:cNvSpPr txBox="1"/>
          <p:nvPr/>
        </p:nvSpPr>
        <p:spPr>
          <a:xfrm>
            <a:off x="8229600" y="2057400"/>
            <a:ext cx="3319272" cy="252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France led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1900s, 1930s, 1950s and 1960s: 23 wins across those decades.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Belgium led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1910s and 1920s (9 wins) and the 1970s (5).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Italy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led the 1940s with 2 wins; Switzerland won twice in the 1950s.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Later decades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are below the visible part of the result.</a:t>
            </a:r>
          </a:p>
        </p:txBody>
      </p:sp>
    </p:spTree>
    <p:extLst>
      <p:ext uri="{BB962C8B-B14F-4D97-AF65-F5344CB8AC3E}">
        <p14:creationId xmlns:p14="http://schemas.microsoft.com/office/powerpoint/2010/main" val="216496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Data quality: no unrealistic winner speeds</a:t>
            </a:r>
          </a:p>
        </p:txBody>
      </p:sp>
      <p:pic>
        <p:nvPicPr>
          <p:cNvPr id="5" name="Content Placeholder 4" descr="SQL query: data quality checks">
            <a:extLst>
              <a:ext uri="{FF2B5EF4-FFF2-40B4-BE49-F238E27FC236}">
                <a16:creationId xmlns:a16="http://schemas.microsoft.com/office/drawing/2014/main" id="{AD68F157-6C33-D3D7-66BD-38595D651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23" y="1681808"/>
            <a:ext cx="7684241" cy="2612505"/>
          </a:xfrm>
          <a:prstGeom prst="rect">
            <a:avLst/>
          </a:prstGeom>
        </p:spPr>
      </p:pic>
      <p:pic>
        <p:nvPicPr>
          <p:cNvPr id="7" name="Picture 6" descr="SQL query: data quality checks">
            <a:extLst>
              <a:ext uri="{FF2B5EF4-FFF2-40B4-BE49-F238E27FC236}">
                <a16:creationId xmlns:a16="http://schemas.microsoft.com/office/drawing/2014/main" id="{C5BA654D-731B-A9DD-F3FA-959D2AE22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427" y="4833121"/>
            <a:ext cx="2427534" cy="1174389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0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3" name="Insights text"/>
          <p:cNvSpPr txBox="1"/>
          <p:nvPr/>
        </p:nvSpPr>
        <p:spPr>
          <a:xfrm>
            <a:off x="8229600" y="2057400"/>
            <a:ext cx="3319272" cy="2739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Speed check: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no rows returned, so no winner average is above 60 or below 20 km/h.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Realistic range: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decade averages run from 25.4 to about 41 km/h.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Entrants check: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Power BI chart shows finishers below starters in every year.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Gaps: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some early winner times are 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NULL.</a:t>
            </a:r>
          </a:p>
        </p:txBody>
      </p:sp>
    </p:spTree>
    <p:extLst>
      <p:ext uri="{BB962C8B-B14F-4D97-AF65-F5344CB8AC3E}">
        <p14:creationId xmlns:p14="http://schemas.microsoft.com/office/powerpoint/2010/main" val="1939052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Median stages and distance by winning country</a:t>
            </a:r>
          </a:p>
        </p:txBody>
      </p:sp>
      <p:pic>
        <p:nvPicPr>
          <p:cNvPr id="5" name="Content Placeholder 4" descr="SQL query: median stages and distance by winner country">
            <a:extLst>
              <a:ext uri="{FF2B5EF4-FFF2-40B4-BE49-F238E27FC236}">
                <a16:creationId xmlns:a16="http://schemas.microsoft.com/office/drawing/2014/main" id="{12775D79-B97C-1EB0-33BC-0270BB9A7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98" y="1235182"/>
            <a:ext cx="7647629" cy="3077737"/>
          </a:xfrm>
          <a:prstGeom prst="rect">
            <a:avLst/>
          </a:prstGeom>
        </p:spPr>
      </p:pic>
      <p:pic>
        <p:nvPicPr>
          <p:cNvPr id="7" name="Picture 6" descr="SQL query: median stages and distance by winner country">
            <a:extLst>
              <a:ext uri="{FF2B5EF4-FFF2-40B4-BE49-F238E27FC236}">
                <a16:creationId xmlns:a16="http://schemas.microsoft.com/office/drawing/2014/main" id="{3C7B1069-D362-EA69-A31B-D20257480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763" y="3788959"/>
            <a:ext cx="3104534" cy="2813009"/>
          </a:xfrm>
          <a:prstGeom prst="rect">
            <a:avLst/>
          </a:prstGeom>
        </p:spPr>
      </p:pic>
      <p:sp>
        <p:nvSpPr>
          <p:cNvPr id="8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0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3" name="Insights text"/>
          <p:cNvSpPr txBox="1"/>
          <p:nvPr/>
        </p:nvSpPr>
        <p:spPr>
          <a:xfrm>
            <a:off x="8229600" y="2057400"/>
            <a:ext cx="3319272" cy="266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Most stages: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Ireland 25 (a single win), Switzerland 23, then France, Luxembourg and Netherlands at 22. Belgium is lowest at 19.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Longest courses: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Luxembourg 5, Ireland and Switzerland 4 (thousand km).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Read with care: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medians reflect when a country won, not national style. Distance is also truncated.</a:t>
            </a:r>
          </a:p>
        </p:txBody>
      </p:sp>
    </p:spTree>
    <p:extLst>
      <p:ext uri="{BB962C8B-B14F-4D97-AF65-F5344CB8AC3E}">
        <p14:creationId xmlns:p14="http://schemas.microsoft.com/office/powerpoint/2010/main" val="2470465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Average finishers grew ~6x; biggest jump in the 1980s</a:t>
            </a:r>
          </a:p>
        </p:txBody>
      </p:sp>
      <p:pic>
        <p:nvPicPr>
          <p:cNvPr id="5" name="Content Placeholder 4" descr="SQL query: average finishers per decade and growth">
            <a:extLst>
              <a:ext uri="{FF2B5EF4-FFF2-40B4-BE49-F238E27FC236}">
                <a16:creationId xmlns:a16="http://schemas.microsoft.com/office/drawing/2014/main" id="{68A6EC7B-B81E-D555-4693-A8E0A98C5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325880"/>
            <a:ext cx="5626246" cy="3015950"/>
          </a:xfrm>
          <a:prstGeom prst="rect">
            <a:avLst/>
          </a:prstGeom>
        </p:spPr>
      </p:pic>
      <p:pic>
        <p:nvPicPr>
          <p:cNvPr id="7" name="Picture 6" descr="SQL query: average finishers per decade and growth">
            <a:extLst>
              <a:ext uri="{FF2B5EF4-FFF2-40B4-BE49-F238E27FC236}">
                <a16:creationId xmlns:a16="http://schemas.microsoft.com/office/drawing/2014/main" id="{DE526DA3-00D5-E06E-89C2-09168D8A5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23" y="4341830"/>
            <a:ext cx="4644446" cy="1704923"/>
          </a:xfrm>
          <a:prstGeom prst="rect">
            <a:avLst/>
          </a:prstGeom>
        </p:spPr>
      </p:pic>
      <p:pic>
        <p:nvPicPr>
          <p:cNvPr id="9" name="Picture 8" descr="SQL query: average finishers per decade and growth">
            <a:extLst>
              <a:ext uri="{FF2B5EF4-FFF2-40B4-BE49-F238E27FC236}">
                <a16:creationId xmlns:a16="http://schemas.microsoft.com/office/drawing/2014/main" id="{55A9F25B-100F-6123-46E6-93B728E2B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580" y="2557885"/>
            <a:ext cx="1984820" cy="2636406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SQL ANALYSIS</a:t>
            </a:r>
          </a:p>
        </p:txBody>
      </p:sp>
      <p:sp>
        <p:nvSpPr>
          <p:cNvPr id="12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nsights header"/>
          <p:cNvSpPr txBox="1"/>
          <p:nvPr/>
        </p:nvSpPr>
        <p:spPr>
          <a:xfrm>
            <a:off x="8567928" y="1543996"/>
            <a:ext cx="299923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5" name="Insights text"/>
          <p:cNvSpPr txBox="1"/>
          <p:nvPr/>
        </p:nvSpPr>
        <p:spPr>
          <a:xfrm>
            <a:off x="8229600" y="2057400"/>
            <a:ext cx="3319272" cy="2174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~6x growth: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28 finishers per edition in the 1900s to 162.5 in the 2010s.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Biggest jump: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the 1980s at +37.6 (86.7 to 124.3), then the 1950s (+18.9) and 2010s (+17.3).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2020s drop: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−21.8 to 140.7, but only 3 editions and smaller fields (176 starters in 2018–2020).</a:t>
            </a:r>
          </a:p>
        </p:txBody>
      </p:sp>
    </p:spTree>
    <p:extLst>
      <p:ext uri="{BB962C8B-B14F-4D97-AF65-F5344CB8AC3E}">
        <p14:creationId xmlns:p14="http://schemas.microsoft.com/office/powerpoint/2010/main" val="3691346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C39E-1DC4-89B4-EBCD-279FEBE1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011680"/>
            <a:ext cx="6583680" cy="1554480"/>
          </a:xfrm>
        </p:spPr>
        <p:txBody>
          <a:bodyPr wrap="square" lIns="0" rIns="0" anchor="b"/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Power BI Dashboard Analysis</a:t>
            </a:r>
            <a:endParaRPr lang="en-IN" dirty="0"/>
          </a:p>
        </p:txBody>
      </p:sp>
      <p:cxnSp>
        <p:nvCxnSpPr>
          <p:cNvPr id="3" name="Wheel spoke"/>
          <p:cNvCxnSpPr/>
          <p:nvPr/>
        </p:nvCxnSpPr>
        <p:spPr>
          <a:xfrm>
            <a:off x="9692640" y="3429000"/>
            <a:ext cx="1737360" cy="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Wheel spoke"/>
          <p:cNvCxnSpPr/>
          <p:nvPr/>
        </p:nvCxnSpPr>
        <p:spPr>
          <a:xfrm>
            <a:off x="9692640" y="3429000"/>
            <a:ext cx="1504597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Wheel spoke"/>
          <p:cNvCxnSpPr/>
          <p:nvPr/>
        </p:nvCxnSpPr>
        <p:spPr>
          <a:xfrm>
            <a:off x="9692640" y="3429000"/>
            <a:ext cx="868680" cy="1504597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Wheel spoke"/>
          <p:cNvCxnSpPr/>
          <p:nvPr/>
        </p:nvCxnSpPr>
        <p:spPr>
          <a:xfrm>
            <a:off x="9692640" y="3429000"/>
            <a:ext cx="0" cy="173736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Wheel spoke"/>
          <p:cNvCxnSpPr/>
          <p:nvPr/>
        </p:nvCxnSpPr>
        <p:spPr>
          <a:xfrm flipH="1">
            <a:off x="8823960" y="3429000"/>
            <a:ext cx="868680" cy="1504597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Wheel spoke"/>
          <p:cNvCxnSpPr/>
          <p:nvPr/>
        </p:nvCxnSpPr>
        <p:spPr>
          <a:xfrm flipH="1">
            <a:off x="8188042" y="3429000"/>
            <a:ext cx="1504598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Wheel spoke"/>
          <p:cNvCxnSpPr/>
          <p:nvPr/>
        </p:nvCxnSpPr>
        <p:spPr>
          <a:xfrm flipH="1">
            <a:off x="7955279" y="3429000"/>
            <a:ext cx="1737361" cy="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Wheel spoke"/>
          <p:cNvCxnSpPr/>
          <p:nvPr/>
        </p:nvCxnSpPr>
        <p:spPr>
          <a:xfrm flipH="1" flipV="1">
            <a:off x="8188042" y="2560320"/>
            <a:ext cx="1504598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Wheel spoke"/>
          <p:cNvCxnSpPr/>
          <p:nvPr/>
        </p:nvCxnSpPr>
        <p:spPr>
          <a:xfrm flipH="1" flipV="1">
            <a:off x="8823959" y="1924402"/>
            <a:ext cx="868681" cy="1504598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Wheel spoke"/>
          <p:cNvCxnSpPr/>
          <p:nvPr/>
        </p:nvCxnSpPr>
        <p:spPr>
          <a:xfrm flipV="1">
            <a:off x="9692640" y="1691640"/>
            <a:ext cx="0" cy="173736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Wheel spoke"/>
          <p:cNvCxnSpPr/>
          <p:nvPr/>
        </p:nvCxnSpPr>
        <p:spPr>
          <a:xfrm flipV="1">
            <a:off x="9692640" y="1924402"/>
            <a:ext cx="868680" cy="1504598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Wheel spoke"/>
          <p:cNvCxnSpPr/>
          <p:nvPr/>
        </p:nvCxnSpPr>
        <p:spPr>
          <a:xfrm flipV="1">
            <a:off x="9692640" y="2560319"/>
            <a:ext cx="1504597" cy="868681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Wheel rim"/>
          <p:cNvSpPr/>
          <p:nvPr/>
        </p:nvSpPr>
        <p:spPr>
          <a:xfrm>
            <a:off x="7955279" y="1691640"/>
            <a:ext cx="3474720" cy="3474720"/>
          </a:xfrm>
          <a:prstGeom prst="ellipse">
            <a:avLst/>
          </a:prstGeom>
          <a:noFill/>
          <a:ln w="101600">
            <a:solidFill>
              <a:srgbClr val="FF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heel inner"/>
          <p:cNvSpPr/>
          <p:nvPr/>
        </p:nvSpPr>
        <p:spPr>
          <a:xfrm>
            <a:off x="8789212" y="2525572"/>
            <a:ext cx="1806854" cy="1806854"/>
          </a:xfrm>
          <a:prstGeom prst="ellipse">
            <a:avLst/>
          </a:prstGeom>
          <a:solidFill>
            <a:srgbClr val="0B1F3A"/>
          </a:solidFill>
          <a:ln w="3810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heel hub"/>
          <p:cNvSpPr/>
          <p:nvPr/>
        </p:nvSpPr>
        <p:spPr>
          <a:xfrm>
            <a:off x="9449409" y="3185769"/>
            <a:ext cx="486460" cy="48646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ection subtitle"/>
          <p:cNvSpPr txBox="1"/>
          <p:nvPr/>
        </p:nvSpPr>
        <p:spPr>
          <a:xfrm>
            <a:off x="731520" y="37947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>
                <a:solidFill>
                  <a:srgbClr val="CADCFC"/>
                </a:solidFill>
                <a:latin typeface="Calibri"/>
              </a:rPr>
              <a:t>Overview, country dominance, race evolution, geography and entrants vs finishers</a:t>
            </a:r>
          </a:p>
        </p:txBody>
      </p:sp>
      <p:sp>
        <p:nvSpPr>
          <p:cNvPr id="19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FFD100"/>
                </a:solidFill>
                <a:latin typeface="Calibri"/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2745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Overview: 109 editions, 15.7K entrants, 9.9K finishers</a:t>
            </a:r>
          </a:p>
        </p:txBody>
      </p:sp>
      <p:pic>
        <p:nvPicPr>
          <p:cNvPr id="5" name="Content Placeholder 4" descr="Power BI overview page: key metrics and entrants and finishers over time">
            <a:extLst>
              <a:ext uri="{FF2B5EF4-FFF2-40B4-BE49-F238E27FC236}">
                <a16:creationId xmlns:a16="http://schemas.microsoft.com/office/drawing/2014/main" id="{89785D41-CCA9-ACC1-0E2E-1D3548A2A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325879"/>
            <a:ext cx="7607808" cy="4416160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POWER BI DASHBOARD</a:t>
            </a:r>
          </a:p>
        </p:txBody>
      </p:sp>
      <p:sp>
        <p:nvSpPr>
          <p:cNvPr id="8" name="Implication"/>
          <p:cNvSpPr/>
          <p:nvPr/>
        </p:nvSpPr>
        <p:spPr>
          <a:xfrm>
            <a:off x="580644" y="5829300"/>
            <a:ext cx="7315200" cy="8686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400" b="1" i="0">
                <a:solidFill>
                  <a:srgbClr val="FFD100"/>
                </a:solidFill>
                <a:latin typeface="Calibri"/>
              </a:rPr>
              <a:t>Implication: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the field has plateaued near 200 riders, so growth levers are race format and finish rate.</a:t>
            </a:r>
          </a:p>
        </p:txBody>
      </p:sp>
      <p:sp>
        <p:nvSpPr>
          <p:cNvPr id="9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header"/>
          <p:cNvSpPr txBox="1"/>
          <p:nvPr/>
        </p:nvSpPr>
        <p:spPr>
          <a:xfrm>
            <a:off x="8567928" y="150876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2" name="Insights text"/>
          <p:cNvSpPr txBox="1"/>
          <p:nvPr/>
        </p:nvSpPr>
        <p:spPr>
          <a:xfrm>
            <a:off x="8229600" y="2057400"/>
            <a:ext cx="3319272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Scale: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109 editions covering 456K km in total.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63% overall finish rate: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9.9K finishers from 15.7K entrants.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Growing field: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about 60 starters in 1903 to roughly 198 by the 1990s–2010s, with a peak of 210 in 1986.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Gaps: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straight-line segments mark war years with no race.</a:t>
            </a:r>
          </a:p>
        </p:txBody>
      </p:sp>
    </p:spTree>
    <p:extLst>
      <p:ext uri="{BB962C8B-B14F-4D97-AF65-F5344CB8AC3E}">
        <p14:creationId xmlns:p14="http://schemas.microsoft.com/office/powerpoint/2010/main" val="112182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Country dominance and the distance–speed trade-off</a:t>
            </a:r>
          </a:p>
        </p:txBody>
      </p:sp>
      <p:pic>
        <p:nvPicPr>
          <p:cNvPr id="5" name="Content Placeholder 4" descr="Power BI country page: wins by country and distance versus speed scatter">
            <a:extLst>
              <a:ext uri="{FF2B5EF4-FFF2-40B4-BE49-F238E27FC236}">
                <a16:creationId xmlns:a16="http://schemas.microsoft.com/office/drawing/2014/main" id="{17F000C0-4449-D854-2729-EA1A25156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36" y="1325880"/>
            <a:ext cx="7479792" cy="4251960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POWER BI DASHBOARD</a:t>
            </a:r>
          </a:p>
        </p:txBody>
      </p:sp>
      <p:sp>
        <p:nvSpPr>
          <p:cNvPr id="8" name="Implication"/>
          <p:cNvSpPr/>
          <p:nvPr/>
        </p:nvSpPr>
        <p:spPr>
          <a:xfrm>
            <a:off x="411480" y="5577840"/>
            <a:ext cx="7315200" cy="8686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400" b="1" i="0">
                <a:solidFill>
                  <a:srgbClr val="FFD100"/>
                </a:solidFill>
                <a:latin typeface="Calibri"/>
              </a:rPr>
              <a:t>Implication: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few nations dominate, but new winners from Slovenia, Colombia and Australia show room for broader appeal.</a:t>
            </a:r>
          </a:p>
        </p:txBody>
      </p:sp>
      <p:sp>
        <p:nvSpPr>
          <p:cNvPr id="9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header"/>
          <p:cNvSpPr txBox="1"/>
          <p:nvPr/>
        </p:nvSpPr>
        <p:spPr>
          <a:xfrm>
            <a:off x="8567928" y="150876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2" name="Insights text"/>
          <p:cNvSpPr txBox="1"/>
          <p:nvPr/>
        </p:nvSpPr>
        <p:spPr>
          <a:xfrm>
            <a:off x="8229600" y="2057400"/>
            <a:ext cx="3319272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France leads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with 36 wins, then Belgium (18), Spain (12) and Italy (10).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KPIs: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102 recorded wins, win rate 0.94 and average winner speed of 35 km/h.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Scatter: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races of 3.3–3.9K km average 38–42 km/h; races near 5.4K km average about 24 km/h.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Caution: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distance and speed both track era, so include year in any model.</a:t>
            </a:r>
          </a:p>
        </p:txBody>
      </p:sp>
    </p:spTree>
    <p:extLst>
      <p:ext uri="{BB962C8B-B14F-4D97-AF65-F5344CB8AC3E}">
        <p14:creationId xmlns:p14="http://schemas.microsoft.com/office/powerpoint/2010/main" val="667237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Race evolution: faster, shorter, more finishers</a:t>
            </a:r>
          </a:p>
        </p:txBody>
      </p:sp>
      <p:pic>
        <p:nvPicPr>
          <p:cNvPr id="5" name="Content Placeholder 4" descr="Power BI race evolution page: speed by decade, stages by decade, finish rate by year">
            <a:extLst>
              <a:ext uri="{FF2B5EF4-FFF2-40B4-BE49-F238E27FC236}">
                <a16:creationId xmlns:a16="http://schemas.microsoft.com/office/drawing/2014/main" id="{D3122BF1-821F-43EE-EAAE-49D62FA7F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" y="1325880"/>
            <a:ext cx="7470648" cy="4386662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POWER BI DASHBOARD</a:t>
            </a:r>
          </a:p>
        </p:txBody>
      </p:sp>
      <p:sp>
        <p:nvSpPr>
          <p:cNvPr id="8" name="Implication"/>
          <p:cNvSpPr/>
          <p:nvPr/>
        </p:nvSpPr>
        <p:spPr>
          <a:xfrm>
            <a:off x="411480" y="5829300"/>
            <a:ext cx="7315200" cy="8686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400" b="1" i="0">
                <a:solidFill>
                  <a:srgbClr val="FFD100"/>
                </a:solidFill>
                <a:latin typeface="Calibri"/>
              </a:rPr>
              <a:t>Implication: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speed gains have levelled off near 40 km/h, so a forecast should expect a plateau, not steady growth.</a:t>
            </a:r>
          </a:p>
        </p:txBody>
      </p:sp>
      <p:sp>
        <p:nvSpPr>
          <p:cNvPr id="9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header"/>
          <p:cNvSpPr txBox="1"/>
          <p:nvPr/>
        </p:nvSpPr>
        <p:spPr>
          <a:xfrm>
            <a:off x="8567928" y="150876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2" name="Insights text"/>
          <p:cNvSpPr txBox="1"/>
          <p:nvPr/>
        </p:nvSpPr>
        <p:spPr>
          <a:xfrm>
            <a:off x="8229600" y="2057400"/>
            <a:ext cx="3319272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Speed: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from about 25 km/h in the 1900s–1920s to about 41 km/h in the 2020s.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Finish rate: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from 0.15–0.40 in early years to about 0.88 in 2019.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Stage chart: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it counts stages (9 in the 1970s to 1 in the 2020s) rather than averaging. Switch to Average of Stages for a true trend.</a:t>
            </a:r>
          </a:p>
        </p:txBody>
      </p:sp>
    </p:spTree>
    <p:extLst>
      <p:ext uri="{BB962C8B-B14F-4D97-AF65-F5344CB8AC3E}">
        <p14:creationId xmlns:p14="http://schemas.microsoft.com/office/powerpoint/2010/main" val="268294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Shorter races and a Europe-centred winner map</a:t>
            </a:r>
          </a:p>
        </p:txBody>
      </p:sp>
      <p:pic>
        <p:nvPicPr>
          <p:cNvPr id="5" name="Content Placeholder 4" descr="Power BI geography page: average distance by decade and map of winning countries">
            <a:extLst>
              <a:ext uri="{FF2B5EF4-FFF2-40B4-BE49-F238E27FC236}">
                <a16:creationId xmlns:a16="http://schemas.microsoft.com/office/drawing/2014/main" id="{6EBB77BB-CED8-991D-7190-87128E8EF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" y="1131324"/>
            <a:ext cx="7790688" cy="4595351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POWER BI DASHBOARD</a:t>
            </a:r>
          </a:p>
        </p:txBody>
      </p:sp>
      <p:sp>
        <p:nvSpPr>
          <p:cNvPr id="8" name="Implication"/>
          <p:cNvSpPr/>
          <p:nvPr/>
        </p:nvSpPr>
        <p:spPr>
          <a:xfrm>
            <a:off x="455122" y="5829300"/>
            <a:ext cx="7315200" cy="8686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400" b="1" i="0" dirty="0">
                <a:solidFill>
                  <a:srgbClr val="FFD100"/>
                </a:solidFill>
                <a:latin typeface="Calibri"/>
              </a:rPr>
              <a:t>Implication: 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course length is a design lever; shorter editions coincide with higher winner speeds.</a:t>
            </a:r>
          </a:p>
        </p:txBody>
      </p:sp>
      <p:sp>
        <p:nvSpPr>
          <p:cNvPr id="9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header"/>
          <p:cNvSpPr txBox="1"/>
          <p:nvPr/>
        </p:nvSpPr>
        <p:spPr>
          <a:xfrm>
            <a:off x="8567928" y="150876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2" name="Insights text"/>
          <p:cNvSpPr txBox="1"/>
          <p:nvPr/>
        </p:nvSpPr>
        <p:spPr>
          <a:xfrm>
            <a:off x="8229600" y="2057400"/>
            <a:ext cx="3319272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Distance peaked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in the 1920s at about 5.5K km and was near 3.8K km in the 1980s and 1990s, roughly 31% shorter.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Map: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wins cluster in Western Europe, with France the largest bubble, then Spain, Italy and Belgium.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Outliers: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single bubbles for the USA, Colombia and Australia.</a:t>
            </a:r>
          </a:p>
        </p:txBody>
      </p:sp>
    </p:spTree>
    <p:extLst>
      <p:ext uri="{BB962C8B-B14F-4D97-AF65-F5344CB8AC3E}">
        <p14:creationId xmlns:p14="http://schemas.microsoft.com/office/powerpoint/2010/main" val="2501696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Entrants vs finishers: early editions had big drop-offs</a:t>
            </a:r>
          </a:p>
        </p:txBody>
      </p:sp>
      <p:pic>
        <p:nvPicPr>
          <p:cNvPr id="5" name="Content Placeholder 4" descr="Power BI entrants and finishers page: finish rate table and starters versus finishers by decade">
            <a:extLst>
              <a:ext uri="{FF2B5EF4-FFF2-40B4-BE49-F238E27FC236}">
                <a16:creationId xmlns:a16="http://schemas.microsoft.com/office/drawing/2014/main" id="{72C000E6-360A-E68C-F999-D086DA913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" y="1225296"/>
            <a:ext cx="7607808" cy="4407408"/>
          </a:xfrm>
          <a:prstGeom prst="rect">
            <a:avLst/>
          </a:prstGeom>
        </p:spPr>
      </p:pic>
      <p:sp>
        <p:nvSpPr>
          <p:cNvPr id="6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5B6B82"/>
                </a:solidFill>
                <a:latin typeface="Calibri"/>
              </a:rPr>
              <a:t>POWER BI DASHBOARD</a:t>
            </a:r>
          </a:p>
        </p:txBody>
      </p:sp>
      <p:sp>
        <p:nvSpPr>
          <p:cNvPr id="8" name="Implication"/>
          <p:cNvSpPr/>
          <p:nvPr/>
        </p:nvSpPr>
        <p:spPr>
          <a:xfrm>
            <a:off x="411480" y="5733288"/>
            <a:ext cx="7315200" cy="8686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400" b="1" i="0">
                <a:solidFill>
                  <a:srgbClr val="FFD100"/>
                </a:solidFill>
                <a:latin typeface="Calibri"/>
              </a:rPr>
              <a:t>Implication: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compare eras by finish rate (0.63 overall), not by decade totals.</a:t>
            </a:r>
          </a:p>
        </p:txBody>
      </p:sp>
      <p:sp>
        <p:nvSpPr>
          <p:cNvPr id="9" name="Insights panel"/>
          <p:cNvSpPr/>
          <p:nvPr/>
        </p:nvSpPr>
        <p:spPr>
          <a:xfrm>
            <a:off x="8001000" y="1325880"/>
            <a:ext cx="3776472" cy="5120640"/>
          </a:xfrm>
          <a:prstGeom prst="roundRect">
            <a:avLst>
              <a:gd name="adj" fmla="val 3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nsights marker"/>
          <p:cNvSpPr/>
          <p:nvPr/>
        </p:nvSpPr>
        <p:spPr>
          <a:xfrm>
            <a:off x="8229600" y="1572768"/>
            <a:ext cx="219456" cy="219456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nsights header"/>
          <p:cNvSpPr txBox="1"/>
          <p:nvPr/>
        </p:nvSpPr>
        <p:spPr>
          <a:xfrm>
            <a:off x="8567928" y="1508760"/>
            <a:ext cx="299923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Key insights</a:t>
            </a:r>
          </a:p>
        </p:txBody>
      </p:sp>
      <p:sp>
        <p:nvSpPr>
          <p:cNvPr id="12" name="Insights text"/>
          <p:cNvSpPr txBox="1"/>
          <p:nvPr/>
        </p:nvSpPr>
        <p:spPr>
          <a:xfrm>
            <a:off x="8229600" y="2057400"/>
            <a:ext cx="3319272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Big-drop editions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are mostly early: 1919 (0.14), 1904 and 1906 (0.17), 1913 (0.18), 1920 (0.19).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2010s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are strongest: about 1,930 starters and 1,620 finishers (84%).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1920s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are weakest: about 1,370 starters and 440 finishers (32%).</a:t>
            </a:r>
          </a:p>
          <a:p>
            <a:pPr marL="228600" indent="-228600">
              <a:spcAft>
                <a:spcPts val="800"/>
              </a:spcAft>
              <a:buClr>
                <a:srgbClr val="0B1F3A"/>
              </a:buClr>
              <a:buFont typeface="Arial"/>
              <a:buChar char="•"/>
            </a:pPr>
            <a:r>
              <a:rPr sz="1400" b="1" i="0">
                <a:solidFill>
                  <a:srgbClr val="1F2937"/>
                </a:solidFill>
                <a:latin typeface="Calibri"/>
              </a:rPr>
              <a:t>Caution: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decade totals depend on how many editions ran (2020s and 1940s have 3 each).</a:t>
            </a:r>
          </a:p>
        </p:txBody>
      </p:sp>
    </p:spTree>
    <p:extLst>
      <p:ext uri="{BB962C8B-B14F-4D97-AF65-F5344CB8AC3E}">
        <p14:creationId xmlns:p14="http://schemas.microsoft.com/office/powerpoint/2010/main" val="4088062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02920"/>
            <a:ext cx="11365992" cy="640080"/>
          </a:xfrm>
        </p:spPr>
        <p:txBody>
          <a:bodyPr wrap="square" lIns="0" rIns="0" anchor="ctr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120 years of Tour data tells us</a:t>
            </a:r>
          </a:p>
        </p:txBody>
      </p:sp>
      <p:sp>
        <p:nvSpPr>
          <p:cNvPr id="3" name="Eyebrow"/>
          <p:cNvSpPr txBox="1"/>
          <p:nvPr/>
        </p:nvSpPr>
        <p:spPr>
          <a:xfrm>
            <a:off x="41148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50">
                <a:solidFill>
                  <a:srgbClr val="FFD100"/>
                </a:solidFill>
                <a:latin typeface="Calibri"/>
              </a:rPr>
              <a:t>SUMMARY</a:t>
            </a:r>
          </a:p>
        </p:txBody>
      </p:sp>
      <p:sp>
        <p:nvSpPr>
          <p:cNvPr id="4" name="Card 1"/>
          <p:cNvSpPr/>
          <p:nvPr/>
        </p:nvSpPr>
        <p:spPr>
          <a:xfrm>
            <a:off x="411480" y="1371600"/>
            <a:ext cx="3602736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d 1 number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6" name="Card 1 heading"/>
          <p:cNvSpPr txBox="1"/>
          <p:nvPr/>
        </p:nvSpPr>
        <p:spPr>
          <a:xfrm>
            <a:off x="1188720" y="1572768"/>
            <a:ext cx="264261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Dominance is concentrated</a:t>
            </a:r>
          </a:p>
        </p:txBody>
      </p:sp>
      <p:sp>
        <p:nvSpPr>
          <p:cNvPr id="7" name="Card 1 text"/>
          <p:cNvSpPr txBox="1"/>
          <p:nvPr/>
        </p:nvSpPr>
        <p:spPr>
          <a:xfrm>
            <a:off x="640080" y="2194560"/>
            <a:ext cx="31455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F2937"/>
                </a:solidFill>
                <a:latin typeface="Calibri"/>
              </a:rPr>
              <a:t>France (36), Belgium (18), Spain (12) and Italy (10) hold about 75% of 102 wins. Slovenia, Colombia and Australia show a widening field.</a:t>
            </a:r>
          </a:p>
        </p:txBody>
      </p:sp>
      <p:sp>
        <p:nvSpPr>
          <p:cNvPr id="8" name="Card 2"/>
          <p:cNvSpPr/>
          <p:nvPr/>
        </p:nvSpPr>
        <p:spPr>
          <a:xfrm>
            <a:off x="4288536" y="1371600"/>
            <a:ext cx="3602736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 2 number"/>
          <p:cNvSpPr/>
          <p:nvPr/>
        </p:nvSpPr>
        <p:spPr>
          <a:xfrm>
            <a:off x="4517136" y="1600200"/>
            <a:ext cx="411480" cy="41148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0" name="Card 2 heading"/>
          <p:cNvSpPr txBox="1"/>
          <p:nvPr/>
        </p:nvSpPr>
        <p:spPr>
          <a:xfrm>
            <a:off x="5065776" y="1572768"/>
            <a:ext cx="264261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Racing got faster</a:t>
            </a:r>
          </a:p>
        </p:txBody>
      </p:sp>
      <p:sp>
        <p:nvSpPr>
          <p:cNvPr id="11" name="Card 2 text"/>
          <p:cNvSpPr txBox="1"/>
          <p:nvPr/>
        </p:nvSpPr>
        <p:spPr>
          <a:xfrm>
            <a:off x="4517136" y="2194560"/>
            <a:ext cx="31455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F2937"/>
                </a:solidFill>
                <a:latin typeface="Calibri"/>
              </a:rPr>
              <a:t>Winner speed rose from 25.4 km/h in the 1920s to about 41 km/h in the 2020s, and has been near 40 km/h since the 2000s.</a:t>
            </a:r>
          </a:p>
        </p:txBody>
      </p:sp>
      <p:sp>
        <p:nvSpPr>
          <p:cNvPr id="12" name="Card 3"/>
          <p:cNvSpPr/>
          <p:nvPr/>
        </p:nvSpPr>
        <p:spPr>
          <a:xfrm>
            <a:off x="8165592" y="1371600"/>
            <a:ext cx="3602736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 3 number"/>
          <p:cNvSpPr/>
          <p:nvPr/>
        </p:nvSpPr>
        <p:spPr>
          <a:xfrm>
            <a:off x="8394192" y="1600200"/>
            <a:ext cx="411480" cy="41148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4" name="Card 3 heading"/>
          <p:cNvSpPr txBox="1"/>
          <p:nvPr/>
        </p:nvSpPr>
        <p:spPr>
          <a:xfrm>
            <a:off x="8942832" y="1572768"/>
            <a:ext cx="264261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Courses got shorter</a:t>
            </a:r>
          </a:p>
        </p:txBody>
      </p:sp>
      <p:sp>
        <p:nvSpPr>
          <p:cNvPr id="15" name="Card 3 text"/>
          <p:cNvSpPr txBox="1"/>
          <p:nvPr/>
        </p:nvSpPr>
        <p:spPr>
          <a:xfrm>
            <a:off x="8394192" y="2194560"/>
            <a:ext cx="31455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F2937"/>
                </a:solidFill>
                <a:latin typeface="Calibri"/>
              </a:rPr>
              <a:t>Average distance fell about 31% from the 1920s peak, and shorter editions show higher winner speeds.</a:t>
            </a:r>
          </a:p>
        </p:txBody>
      </p:sp>
      <p:sp>
        <p:nvSpPr>
          <p:cNvPr id="16" name="Card 4"/>
          <p:cNvSpPr/>
          <p:nvPr/>
        </p:nvSpPr>
        <p:spPr>
          <a:xfrm>
            <a:off x="411480" y="3931920"/>
            <a:ext cx="3602736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 4 number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18" name="Card 4 heading"/>
          <p:cNvSpPr txBox="1"/>
          <p:nvPr/>
        </p:nvSpPr>
        <p:spPr>
          <a:xfrm>
            <a:off x="1188720" y="4133087"/>
            <a:ext cx="264261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More riders now finish</a:t>
            </a:r>
          </a:p>
        </p:txBody>
      </p:sp>
      <p:sp>
        <p:nvSpPr>
          <p:cNvPr id="19" name="Card 4 text"/>
          <p:cNvSpPr txBox="1"/>
          <p:nvPr/>
        </p:nvSpPr>
        <p:spPr>
          <a:xfrm>
            <a:off x="640080" y="4754880"/>
            <a:ext cx="31455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F2937"/>
                </a:solidFill>
                <a:latin typeface="Calibri"/>
              </a:rPr>
              <a:t>Finish rate rose from 14–40% in early editions to about 84% in the 2010s. Average finishers grew ~6x.</a:t>
            </a:r>
          </a:p>
        </p:txBody>
      </p:sp>
      <p:sp>
        <p:nvSpPr>
          <p:cNvPr id="20" name="Card 5"/>
          <p:cNvSpPr/>
          <p:nvPr/>
        </p:nvSpPr>
        <p:spPr>
          <a:xfrm>
            <a:off x="4288536" y="3931920"/>
            <a:ext cx="3602736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 5 number"/>
          <p:cNvSpPr/>
          <p:nvPr/>
        </p:nvSpPr>
        <p:spPr>
          <a:xfrm>
            <a:off x="4517136" y="4160520"/>
            <a:ext cx="411480" cy="41148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22" name="Card 5 heading"/>
          <p:cNvSpPr txBox="1"/>
          <p:nvPr/>
        </p:nvSpPr>
        <p:spPr>
          <a:xfrm>
            <a:off x="5065776" y="4133087"/>
            <a:ext cx="264261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Data is reliable, with fixes</a:t>
            </a:r>
          </a:p>
        </p:txBody>
      </p:sp>
      <p:sp>
        <p:nvSpPr>
          <p:cNvPr id="23" name="Card 5 text"/>
          <p:cNvSpPr txBox="1"/>
          <p:nvPr/>
        </p:nvSpPr>
        <p:spPr>
          <a:xfrm>
            <a:off x="4517136" y="4754880"/>
            <a:ext cx="31455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F2937"/>
                </a:solidFill>
                <a:latin typeface="Calibri"/>
              </a:rPr>
              <a:t>No unrealistic speeds found. Fix distance parsing (avg shows 3.7), the swapped columns in the entrants query, and stage density per edition.</a:t>
            </a:r>
          </a:p>
        </p:txBody>
      </p:sp>
      <p:sp>
        <p:nvSpPr>
          <p:cNvPr id="24" name="Card 6"/>
          <p:cNvSpPr/>
          <p:nvPr/>
        </p:nvSpPr>
        <p:spPr>
          <a:xfrm>
            <a:off x="8165592" y="3931920"/>
            <a:ext cx="3602736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rd 6 number"/>
          <p:cNvSpPr/>
          <p:nvPr/>
        </p:nvSpPr>
        <p:spPr>
          <a:xfrm>
            <a:off x="8394192" y="4160520"/>
            <a:ext cx="411480" cy="41148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26" name="Card 6 heading"/>
          <p:cNvSpPr txBox="1"/>
          <p:nvPr/>
        </p:nvSpPr>
        <p:spPr>
          <a:xfrm>
            <a:off x="8942832" y="4133087"/>
            <a:ext cx="264261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B1F3A"/>
                </a:solidFill>
                <a:latin typeface="Calibri"/>
              </a:rPr>
              <a:t>Next: predictive model</a:t>
            </a:r>
          </a:p>
        </p:txBody>
      </p:sp>
      <p:sp>
        <p:nvSpPr>
          <p:cNvPr id="27" name="Card 6 text"/>
          <p:cNvSpPr txBox="1"/>
          <p:nvPr/>
        </p:nvSpPr>
        <p:spPr>
          <a:xfrm>
            <a:off x="8394192" y="4754880"/>
            <a:ext cx="314553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1F2937"/>
                </a:solidFill>
                <a:latin typeface="Calibri"/>
              </a:rPr>
              <a:t>Forecast winner speed from year and distance, flag outlier editions, and test finish-rate drivers on the cleaned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0"/>
            <a:ext cx="6583680" cy="1280160"/>
          </a:xfrm>
        </p:spPr>
        <p:txBody>
          <a:bodyPr wrap="square" lIns="0" rIns="0" anchor="b"/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cxnSp>
        <p:nvCxnSpPr>
          <p:cNvPr id="3" name="Wheel spoke"/>
          <p:cNvCxnSpPr/>
          <p:nvPr/>
        </p:nvCxnSpPr>
        <p:spPr>
          <a:xfrm>
            <a:off x="9692640" y="3429000"/>
            <a:ext cx="1737360" cy="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Wheel spoke"/>
          <p:cNvCxnSpPr/>
          <p:nvPr/>
        </p:nvCxnSpPr>
        <p:spPr>
          <a:xfrm>
            <a:off x="9692640" y="3429000"/>
            <a:ext cx="1504597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Wheel spoke"/>
          <p:cNvCxnSpPr/>
          <p:nvPr/>
        </p:nvCxnSpPr>
        <p:spPr>
          <a:xfrm>
            <a:off x="9692640" y="3429000"/>
            <a:ext cx="868680" cy="1504597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Wheel spoke"/>
          <p:cNvCxnSpPr/>
          <p:nvPr/>
        </p:nvCxnSpPr>
        <p:spPr>
          <a:xfrm>
            <a:off x="9692640" y="3429000"/>
            <a:ext cx="0" cy="173736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Wheel spoke"/>
          <p:cNvCxnSpPr/>
          <p:nvPr/>
        </p:nvCxnSpPr>
        <p:spPr>
          <a:xfrm flipH="1">
            <a:off x="8823960" y="3429000"/>
            <a:ext cx="868680" cy="1504597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Wheel spoke"/>
          <p:cNvCxnSpPr/>
          <p:nvPr/>
        </p:nvCxnSpPr>
        <p:spPr>
          <a:xfrm flipH="1">
            <a:off x="8188042" y="3429000"/>
            <a:ext cx="1504598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Wheel spoke"/>
          <p:cNvCxnSpPr/>
          <p:nvPr/>
        </p:nvCxnSpPr>
        <p:spPr>
          <a:xfrm flipH="1">
            <a:off x="7955279" y="3429000"/>
            <a:ext cx="1737361" cy="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Wheel spoke"/>
          <p:cNvCxnSpPr/>
          <p:nvPr/>
        </p:nvCxnSpPr>
        <p:spPr>
          <a:xfrm flipH="1" flipV="1">
            <a:off x="8188042" y="2560320"/>
            <a:ext cx="1504598" cy="86868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Wheel spoke"/>
          <p:cNvCxnSpPr/>
          <p:nvPr/>
        </p:nvCxnSpPr>
        <p:spPr>
          <a:xfrm flipH="1" flipV="1">
            <a:off x="8823959" y="1924402"/>
            <a:ext cx="868681" cy="1504598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Wheel spoke"/>
          <p:cNvCxnSpPr/>
          <p:nvPr/>
        </p:nvCxnSpPr>
        <p:spPr>
          <a:xfrm flipV="1">
            <a:off x="9692640" y="1691640"/>
            <a:ext cx="0" cy="1737360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Wheel spoke"/>
          <p:cNvCxnSpPr/>
          <p:nvPr/>
        </p:nvCxnSpPr>
        <p:spPr>
          <a:xfrm flipV="1">
            <a:off x="9692640" y="1924402"/>
            <a:ext cx="868680" cy="1504598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Wheel spoke"/>
          <p:cNvCxnSpPr/>
          <p:nvPr/>
        </p:nvCxnSpPr>
        <p:spPr>
          <a:xfrm flipV="1">
            <a:off x="9692640" y="2560319"/>
            <a:ext cx="1504597" cy="868681"/>
          </a:xfrm>
          <a:prstGeom prst="line">
            <a:avLst/>
          </a:prstGeom>
          <a:ln w="19050">
            <a:solidFill>
              <a:srgbClr val="2A4A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Wheel rim"/>
          <p:cNvSpPr/>
          <p:nvPr/>
        </p:nvSpPr>
        <p:spPr>
          <a:xfrm>
            <a:off x="7955279" y="1691640"/>
            <a:ext cx="3474720" cy="3474720"/>
          </a:xfrm>
          <a:prstGeom prst="ellipse">
            <a:avLst/>
          </a:prstGeom>
          <a:noFill/>
          <a:ln w="101600">
            <a:solidFill>
              <a:srgbClr val="FFD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Wheel inner"/>
          <p:cNvSpPr/>
          <p:nvPr/>
        </p:nvSpPr>
        <p:spPr>
          <a:xfrm>
            <a:off x="8789212" y="2525572"/>
            <a:ext cx="1806854" cy="1806854"/>
          </a:xfrm>
          <a:prstGeom prst="ellipse">
            <a:avLst/>
          </a:prstGeom>
          <a:solidFill>
            <a:srgbClr val="0B1F3A"/>
          </a:solidFill>
          <a:ln w="38100">
            <a:solidFill>
              <a:srgbClr val="2A4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Wheel hub"/>
          <p:cNvSpPr/>
          <p:nvPr/>
        </p:nvSpPr>
        <p:spPr>
          <a:xfrm>
            <a:off x="9449409" y="3185769"/>
            <a:ext cx="486460" cy="486460"/>
          </a:xfrm>
          <a:prstGeom prst="ellipse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losing text"/>
          <p:cNvSpPr txBox="1"/>
          <p:nvPr/>
        </p:nvSpPr>
        <p:spPr>
          <a:xfrm>
            <a:off x="731520" y="3383280"/>
            <a:ext cx="6400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CADCFC"/>
                </a:solidFill>
                <a:latin typeface="Calibri"/>
              </a:rPr>
              <a:t>Peloton Insights — Tour de France Historical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1621</Words>
  <Application>Microsoft Office PowerPoint</Application>
  <PresentationFormat>Widescreen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Peloton Insights — Tour de France Historical Analytics</vt:lpstr>
      <vt:lpstr>Overview: 109 editions averaging ~20 stages</vt:lpstr>
      <vt:lpstr>Field size peaked in 1986; finishers peaked in 2016</vt:lpstr>
      <vt:lpstr>France leads with 36 wins; four nations hold 75%</vt:lpstr>
      <vt:lpstr>Winner speed rose ~60% from the 1920s to the 2020s</vt:lpstr>
      <vt:lpstr>Early editions ran few, very long stages</vt:lpstr>
      <vt:lpstr>Finish rates are highest in the modern era</vt:lpstr>
      <vt:lpstr>Fastest winning time: 2022 at 79.5 hours</vt:lpstr>
      <vt:lpstr>Winning times fell from ~110 h to ~80 h</vt:lpstr>
      <vt:lpstr>France and Belgium dominate decade by decade</vt:lpstr>
      <vt:lpstr>Data quality: no unrealistic winner speeds</vt:lpstr>
      <vt:lpstr>Median stages and distance by winning country</vt:lpstr>
      <vt:lpstr>Average finishers grew ~6x; biggest jump in the 1980s</vt:lpstr>
      <vt:lpstr>Power BI Dashboard Analysis</vt:lpstr>
      <vt:lpstr>Overview: 109 editions, 15.7K entrants, 9.9K finishers</vt:lpstr>
      <vt:lpstr>Country dominance and the distance–speed trade-off</vt:lpstr>
      <vt:lpstr>Race evolution: faster, shorter, more finishers</vt:lpstr>
      <vt:lpstr>Shorter races and a Europe-centred winner map</vt:lpstr>
      <vt:lpstr>Entrants vs finishers: early editions had big drop-offs</vt:lpstr>
      <vt:lpstr>What 120 years of Tour data tells us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 Katiyar</dc:creator>
  <cp:lastModifiedBy>Archi Katiyar</cp:lastModifiedBy>
  <cp:revision>6</cp:revision>
  <dcterms:created xsi:type="dcterms:W3CDTF">2026-10-14T19:01:43Z</dcterms:created>
  <dcterms:modified xsi:type="dcterms:W3CDTF">2026-10-15T17:31:28Z</dcterms:modified>
</cp:coreProperties>
</file>